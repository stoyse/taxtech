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nantason SemiExpanded Bold" panose="020B0604020202020204" charset="-34"/>
      <p:regular r:id="rId14"/>
    </p:embeddedFont>
    <p:embeddedFont>
      <p:font typeface="Handy Casual" panose="020B0604020202020204" charset="0"/>
      <p:regular r:id="rId15"/>
    </p:embeddedFont>
    <p:embeddedFont>
      <p:font typeface="Questrial" pitchFamily="2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917" y="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2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2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583675" y="7999115"/>
            <a:ext cx="5089902" cy="3350081"/>
          </a:xfrm>
          <a:custGeom>
            <a:avLst/>
            <a:gdLst/>
            <a:ahLst/>
            <a:cxnLst/>
            <a:rect l="l" t="t" r="r" b="b"/>
            <a:pathLst>
              <a:path w="5089902" h="3350081">
                <a:moveTo>
                  <a:pt x="0" y="0"/>
                </a:moveTo>
                <a:lnTo>
                  <a:pt x="5089902" y="0"/>
                </a:lnTo>
                <a:lnTo>
                  <a:pt x="5089902" y="3350081"/>
                </a:lnTo>
                <a:lnTo>
                  <a:pt x="0" y="33500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>
            <a:off x="16383786" y="51435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/>
          <p:cNvSpPr/>
          <p:nvPr/>
        </p:nvSpPr>
        <p:spPr>
          <a:xfrm>
            <a:off x="-1595133" y="-863453"/>
            <a:ext cx="3190265" cy="6836282"/>
          </a:xfrm>
          <a:custGeom>
            <a:avLst/>
            <a:gdLst/>
            <a:ahLst/>
            <a:cxnLst/>
            <a:rect l="l" t="t" r="r" b="b"/>
            <a:pathLst>
              <a:path w="3190265" h="6836282">
                <a:moveTo>
                  <a:pt x="0" y="0"/>
                </a:moveTo>
                <a:lnTo>
                  <a:pt x="3190266" y="0"/>
                </a:lnTo>
                <a:lnTo>
                  <a:pt x="3190266" y="6836283"/>
                </a:lnTo>
                <a:lnTo>
                  <a:pt x="0" y="68362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Freeform 5"/>
          <p:cNvSpPr/>
          <p:nvPr/>
        </p:nvSpPr>
        <p:spPr>
          <a:xfrm rot="-5400000">
            <a:off x="899485" y="-1165063"/>
            <a:ext cx="1205248" cy="3182277"/>
          </a:xfrm>
          <a:custGeom>
            <a:avLst/>
            <a:gdLst/>
            <a:ahLst/>
            <a:cxnLst/>
            <a:rect l="l" t="t" r="r" b="b"/>
            <a:pathLst>
              <a:path w="1205248" h="3182277">
                <a:moveTo>
                  <a:pt x="0" y="0"/>
                </a:moveTo>
                <a:lnTo>
                  <a:pt x="1205248" y="0"/>
                </a:lnTo>
                <a:lnTo>
                  <a:pt x="1205248" y="3182278"/>
                </a:lnTo>
                <a:lnTo>
                  <a:pt x="0" y="31822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TextBox 6"/>
          <p:cNvSpPr txBox="1"/>
          <p:nvPr/>
        </p:nvSpPr>
        <p:spPr>
          <a:xfrm>
            <a:off x="3093248" y="2876669"/>
            <a:ext cx="12101505" cy="2543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60"/>
              </a:lnSpc>
            </a:pPr>
            <a:r>
              <a:rPr lang="en-US" sz="14828">
                <a:solidFill>
                  <a:srgbClr val="102C57"/>
                </a:solidFill>
                <a:latin typeface="Handy Casual"/>
                <a:ea typeface="Handy Casual"/>
                <a:cs typeface="Handy Casual"/>
                <a:sym typeface="Handy Casual"/>
              </a:rPr>
              <a:t>Schulung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17901" y="5067300"/>
            <a:ext cx="6252198" cy="703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49"/>
              </a:lnSpc>
              <a:spcBef>
                <a:spcPct val="0"/>
              </a:spcBef>
            </a:pPr>
            <a:r>
              <a:rPr lang="en-US" sz="4178" b="1">
                <a:solidFill>
                  <a:srgbClr val="C9AD8D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Rechnungseingang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32093" y="1066572"/>
            <a:ext cx="9198989" cy="1335744"/>
            <a:chOff x="0" y="0"/>
            <a:chExt cx="1854750" cy="2693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54750" cy="269320"/>
            </a:xfrm>
            <a:custGeom>
              <a:avLst/>
              <a:gdLst/>
              <a:ahLst/>
              <a:cxnLst/>
              <a:rect l="l" t="t" r="r" b="b"/>
              <a:pathLst>
                <a:path w="1854750" h="269320">
                  <a:moveTo>
                    <a:pt x="31139" y="0"/>
                  </a:moveTo>
                  <a:lnTo>
                    <a:pt x="1823611" y="0"/>
                  </a:lnTo>
                  <a:cubicBezTo>
                    <a:pt x="1840808" y="0"/>
                    <a:pt x="1854750" y="13942"/>
                    <a:pt x="1854750" y="31139"/>
                  </a:cubicBezTo>
                  <a:lnTo>
                    <a:pt x="1854750" y="238180"/>
                  </a:lnTo>
                  <a:cubicBezTo>
                    <a:pt x="1854750" y="246439"/>
                    <a:pt x="1851469" y="254360"/>
                    <a:pt x="1845629" y="260199"/>
                  </a:cubicBezTo>
                  <a:cubicBezTo>
                    <a:pt x="1839790" y="266039"/>
                    <a:pt x="1831869" y="269320"/>
                    <a:pt x="1823611" y="269320"/>
                  </a:cubicBezTo>
                  <a:lnTo>
                    <a:pt x="31139" y="269320"/>
                  </a:lnTo>
                  <a:cubicBezTo>
                    <a:pt x="22881" y="269320"/>
                    <a:pt x="14960" y="266039"/>
                    <a:pt x="9121" y="260199"/>
                  </a:cubicBezTo>
                  <a:cubicBezTo>
                    <a:pt x="3281" y="254360"/>
                    <a:pt x="0" y="246439"/>
                    <a:pt x="0" y="238180"/>
                  </a:cubicBezTo>
                  <a:lnTo>
                    <a:pt x="0" y="31139"/>
                  </a:lnTo>
                  <a:cubicBezTo>
                    <a:pt x="0" y="22881"/>
                    <a:pt x="3281" y="14960"/>
                    <a:pt x="9121" y="9121"/>
                  </a:cubicBezTo>
                  <a:cubicBezTo>
                    <a:pt x="14960" y="3281"/>
                    <a:pt x="22881" y="0"/>
                    <a:pt x="31139" y="0"/>
                  </a:cubicBezTo>
                  <a:close/>
                </a:path>
              </a:pathLst>
            </a:custGeom>
            <a:solidFill>
              <a:srgbClr val="C9AD8D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854750" cy="3169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19745" y="668847"/>
            <a:ext cx="2131192" cy="213119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9AD8D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750937" y="3172735"/>
            <a:ext cx="10025936" cy="5349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26"/>
              </a:lnSpc>
            </a:pPr>
            <a:r>
              <a:rPr lang="en-US" sz="3019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Thema: Umgang mit Eingangsrechnungen bei Heiß &amp; Laut</a:t>
            </a:r>
          </a:p>
          <a:p>
            <a:pPr marL="0" lvl="0" indent="0" algn="l">
              <a:lnSpc>
                <a:spcPts val="4226"/>
              </a:lnSpc>
            </a:pPr>
            <a:endParaRPr lang="en-US" sz="3019">
              <a:solidFill>
                <a:srgbClr val="102C57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 algn="l">
              <a:lnSpc>
                <a:spcPts val="4226"/>
              </a:lnSpc>
            </a:pPr>
            <a:r>
              <a:rPr lang="en-US" sz="3019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Ziele:</a:t>
            </a:r>
          </a:p>
          <a:p>
            <a:pPr marL="0" lvl="0" indent="0" algn="l">
              <a:lnSpc>
                <a:spcPts val="4226"/>
              </a:lnSpc>
            </a:pPr>
            <a:endParaRPr lang="en-US" sz="3019">
              <a:solidFill>
                <a:srgbClr val="102C57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651849" lvl="1" indent="-325924" algn="l">
              <a:lnSpc>
                <a:spcPts val="4226"/>
              </a:lnSpc>
              <a:buFont typeface="Arial"/>
              <a:buChar char="•"/>
            </a:pPr>
            <a:r>
              <a:rPr lang="en-US" sz="3019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Richtiges Bearbeiten jeder Rechnung</a:t>
            </a:r>
          </a:p>
          <a:p>
            <a:pPr marL="651849" lvl="1" indent="-325924" algn="l">
              <a:lnSpc>
                <a:spcPts val="4226"/>
              </a:lnSpc>
              <a:buFont typeface="Arial"/>
              <a:buChar char="•"/>
            </a:pPr>
            <a:r>
              <a:rPr lang="en-US" sz="3019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Klare Verantwortlichkeiten</a:t>
            </a:r>
          </a:p>
          <a:p>
            <a:pPr marL="651849" lvl="1" indent="-325924" algn="l">
              <a:lnSpc>
                <a:spcPts val="4226"/>
              </a:lnSpc>
              <a:buFont typeface="Arial"/>
              <a:buChar char="•"/>
            </a:pPr>
            <a:r>
              <a:rPr lang="en-US" sz="3019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GoBD-Konformität und Revisionssicherheit</a:t>
            </a:r>
          </a:p>
          <a:p>
            <a:pPr marL="0" lvl="0" indent="0" algn="l">
              <a:lnSpc>
                <a:spcPts val="4226"/>
              </a:lnSpc>
            </a:pPr>
            <a:r>
              <a:rPr lang="en-US" sz="3019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Wichtigkeit:</a:t>
            </a:r>
          </a:p>
          <a:p>
            <a:pPr algn="l">
              <a:lnSpc>
                <a:spcPts val="4226"/>
              </a:lnSpc>
            </a:pPr>
            <a:r>
              <a:rPr lang="en-US" sz="3019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Fehler bei Rechnungen können steuerliche und finanzielle Kosten sowie Probleme mit Lieferanten verursachen.</a:t>
            </a:r>
          </a:p>
        </p:txBody>
      </p:sp>
      <p:sp>
        <p:nvSpPr>
          <p:cNvPr id="9" name="Freeform 9"/>
          <p:cNvSpPr/>
          <p:nvPr/>
        </p:nvSpPr>
        <p:spPr>
          <a:xfrm flipH="1">
            <a:off x="14063415" y="6459112"/>
            <a:ext cx="4708734" cy="4126563"/>
          </a:xfrm>
          <a:custGeom>
            <a:avLst/>
            <a:gdLst/>
            <a:ahLst/>
            <a:cxnLst/>
            <a:rect l="l" t="t" r="r" b="b"/>
            <a:pathLst>
              <a:path w="4708734" h="4126563">
                <a:moveTo>
                  <a:pt x="4708734" y="0"/>
                </a:moveTo>
                <a:lnTo>
                  <a:pt x="0" y="0"/>
                </a:lnTo>
                <a:lnTo>
                  <a:pt x="0" y="4126563"/>
                </a:lnTo>
                <a:lnTo>
                  <a:pt x="4708734" y="4126563"/>
                </a:lnTo>
                <a:lnTo>
                  <a:pt x="470873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10"/>
          <p:cNvSpPr/>
          <p:nvPr/>
        </p:nvSpPr>
        <p:spPr>
          <a:xfrm>
            <a:off x="13051776" y="8108796"/>
            <a:ext cx="3069038" cy="3069038"/>
          </a:xfrm>
          <a:custGeom>
            <a:avLst/>
            <a:gdLst/>
            <a:ahLst/>
            <a:cxnLst/>
            <a:rect l="l" t="t" r="r" b="b"/>
            <a:pathLst>
              <a:path w="3069038" h="3069038">
                <a:moveTo>
                  <a:pt x="0" y="0"/>
                </a:moveTo>
                <a:lnTo>
                  <a:pt x="3069039" y="0"/>
                </a:lnTo>
                <a:lnTo>
                  <a:pt x="3069039" y="3069038"/>
                </a:lnTo>
                <a:lnTo>
                  <a:pt x="0" y="30690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11"/>
          <p:cNvSpPr/>
          <p:nvPr/>
        </p:nvSpPr>
        <p:spPr>
          <a:xfrm rot="-1974109">
            <a:off x="850534" y="970179"/>
            <a:ext cx="1490319" cy="1289804"/>
          </a:xfrm>
          <a:custGeom>
            <a:avLst/>
            <a:gdLst/>
            <a:ahLst/>
            <a:cxnLst/>
            <a:rect l="l" t="t" r="r" b="b"/>
            <a:pathLst>
              <a:path w="1490319" h="1289804">
                <a:moveTo>
                  <a:pt x="0" y="0"/>
                </a:moveTo>
                <a:lnTo>
                  <a:pt x="1490320" y="0"/>
                </a:lnTo>
                <a:lnTo>
                  <a:pt x="1490320" y="1289803"/>
                </a:lnTo>
                <a:lnTo>
                  <a:pt x="0" y="12898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TextBox 12"/>
          <p:cNvSpPr txBox="1"/>
          <p:nvPr/>
        </p:nvSpPr>
        <p:spPr>
          <a:xfrm>
            <a:off x="2750937" y="1082933"/>
            <a:ext cx="7439135" cy="863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FFFFFF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BACKGROUND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73484" y="1066572"/>
            <a:ext cx="9531107" cy="1335744"/>
            <a:chOff x="0" y="0"/>
            <a:chExt cx="1921713" cy="2693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21714" cy="269320"/>
            </a:xfrm>
            <a:custGeom>
              <a:avLst/>
              <a:gdLst/>
              <a:ahLst/>
              <a:cxnLst/>
              <a:rect l="l" t="t" r="r" b="b"/>
              <a:pathLst>
                <a:path w="1921714" h="269320">
                  <a:moveTo>
                    <a:pt x="30054" y="0"/>
                  </a:moveTo>
                  <a:lnTo>
                    <a:pt x="1891659" y="0"/>
                  </a:lnTo>
                  <a:cubicBezTo>
                    <a:pt x="1899630" y="0"/>
                    <a:pt x="1907274" y="3166"/>
                    <a:pt x="1912911" y="8803"/>
                  </a:cubicBezTo>
                  <a:cubicBezTo>
                    <a:pt x="1918547" y="14439"/>
                    <a:pt x="1921714" y="22083"/>
                    <a:pt x="1921714" y="30054"/>
                  </a:cubicBezTo>
                  <a:lnTo>
                    <a:pt x="1921714" y="239266"/>
                  </a:lnTo>
                  <a:cubicBezTo>
                    <a:pt x="1921714" y="247236"/>
                    <a:pt x="1918547" y="254881"/>
                    <a:pt x="1912911" y="260517"/>
                  </a:cubicBezTo>
                  <a:cubicBezTo>
                    <a:pt x="1907274" y="266153"/>
                    <a:pt x="1899630" y="269320"/>
                    <a:pt x="1891659" y="269320"/>
                  </a:cubicBezTo>
                  <a:lnTo>
                    <a:pt x="30054" y="269320"/>
                  </a:lnTo>
                  <a:cubicBezTo>
                    <a:pt x="22083" y="269320"/>
                    <a:pt x="14439" y="266153"/>
                    <a:pt x="8803" y="260517"/>
                  </a:cubicBezTo>
                  <a:cubicBezTo>
                    <a:pt x="3166" y="254881"/>
                    <a:pt x="0" y="247236"/>
                    <a:pt x="0" y="239266"/>
                  </a:cubicBezTo>
                  <a:lnTo>
                    <a:pt x="0" y="30054"/>
                  </a:lnTo>
                  <a:cubicBezTo>
                    <a:pt x="0" y="22083"/>
                    <a:pt x="3166" y="14439"/>
                    <a:pt x="8803" y="8803"/>
                  </a:cubicBezTo>
                  <a:cubicBezTo>
                    <a:pt x="14439" y="3166"/>
                    <a:pt x="22083" y="0"/>
                    <a:pt x="30054" y="0"/>
                  </a:cubicBezTo>
                  <a:close/>
                </a:path>
              </a:pathLst>
            </a:custGeom>
            <a:solidFill>
              <a:srgbClr val="C9AD8D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921713" cy="3169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19745" y="668847"/>
            <a:ext cx="2131192" cy="213119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9AD8D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5341" y="3683786"/>
            <a:ext cx="10940932" cy="5959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87"/>
              </a:lnSpc>
            </a:pPr>
            <a:r>
              <a:rPr lang="en-US" sz="3062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Im Prozess sind mehrere Personen beteiligt:</a:t>
            </a:r>
          </a:p>
          <a:p>
            <a:pPr marL="0" lvl="0" indent="0" algn="l">
              <a:lnSpc>
                <a:spcPts val="4287"/>
              </a:lnSpc>
            </a:pPr>
            <a:endParaRPr lang="en-US" sz="3062">
              <a:solidFill>
                <a:srgbClr val="102C57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661194" lvl="1" indent="-330597" algn="l">
              <a:lnSpc>
                <a:spcPts val="4287"/>
              </a:lnSpc>
              <a:buFont typeface="Arial"/>
              <a:buChar char="•"/>
            </a:pPr>
            <a:r>
              <a:rPr lang="en-US" sz="3062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Poststelle: Entgegennahme und Scannen der Rechnungen.</a:t>
            </a:r>
          </a:p>
          <a:p>
            <a:pPr marL="661194" lvl="1" indent="-330597" algn="l">
              <a:lnSpc>
                <a:spcPts val="4287"/>
              </a:lnSpc>
              <a:buFont typeface="Arial"/>
              <a:buChar char="•"/>
            </a:pPr>
            <a:r>
              <a:rPr lang="en-US" sz="3062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Buchhaltung: Prüfung der formalen Korrektheit der Rechnungen.</a:t>
            </a:r>
          </a:p>
          <a:p>
            <a:pPr marL="661194" lvl="1" indent="-330597" algn="l">
              <a:lnSpc>
                <a:spcPts val="4287"/>
              </a:lnSpc>
              <a:buFont typeface="Arial"/>
              <a:buChar char="•"/>
            </a:pPr>
            <a:r>
              <a:rPr lang="en-US" sz="3062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Fachabteilung: Überprüfung der Leistung oder Lieferung.</a:t>
            </a:r>
          </a:p>
          <a:p>
            <a:pPr marL="661194" lvl="1" indent="-330597" algn="l">
              <a:lnSpc>
                <a:spcPts val="4287"/>
              </a:lnSpc>
              <a:buFont typeface="Arial"/>
              <a:buChar char="•"/>
            </a:pPr>
            <a:r>
              <a:rPr lang="en-US" sz="3062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Freigabeberechtigte Person: Genehmigung der Zahlung.</a:t>
            </a:r>
          </a:p>
          <a:p>
            <a:pPr marL="661194" lvl="1" indent="-330597" algn="l">
              <a:lnSpc>
                <a:spcPts val="4287"/>
              </a:lnSpc>
              <a:buFont typeface="Arial"/>
              <a:buChar char="•"/>
            </a:pPr>
            <a:r>
              <a:rPr lang="en-US" sz="3062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Finanzbuchhaltung: Durchführung der Zahlung und Archivierung.</a:t>
            </a:r>
          </a:p>
          <a:p>
            <a:pPr algn="l">
              <a:lnSpc>
                <a:spcPts val="4287"/>
              </a:lnSpc>
            </a:pPr>
            <a:r>
              <a:rPr lang="en-US" sz="3062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Merksatz: Jede Rechnung durchläuft mehrere Hände, jede mit einer spezifischen Aufgabe.</a:t>
            </a:r>
          </a:p>
        </p:txBody>
      </p:sp>
      <p:sp>
        <p:nvSpPr>
          <p:cNvPr id="9" name="Freeform 9"/>
          <p:cNvSpPr/>
          <p:nvPr/>
        </p:nvSpPr>
        <p:spPr>
          <a:xfrm flipH="1">
            <a:off x="14063415" y="6459112"/>
            <a:ext cx="4708734" cy="4126563"/>
          </a:xfrm>
          <a:custGeom>
            <a:avLst/>
            <a:gdLst/>
            <a:ahLst/>
            <a:cxnLst/>
            <a:rect l="l" t="t" r="r" b="b"/>
            <a:pathLst>
              <a:path w="4708734" h="4126563">
                <a:moveTo>
                  <a:pt x="4708734" y="0"/>
                </a:moveTo>
                <a:lnTo>
                  <a:pt x="0" y="0"/>
                </a:lnTo>
                <a:lnTo>
                  <a:pt x="0" y="4126563"/>
                </a:lnTo>
                <a:lnTo>
                  <a:pt x="4708734" y="4126563"/>
                </a:lnTo>
                <a:lnTo>
                  <a:pt x="470873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10"/>
          <p:cNvSpPr/>
          <p:nvPr/>
        </p:nvSpPr>
        <p:spPr>
          <a:xfrm>
            <a:off x="13051776" y="8108796"/>
            <a:ext cx="3069038" cy="3069038"/>
          </a:xfrm>
          <a:custGeom>
            <a:avLst/>
            <a:gdLst/>
            <a:ahLst/>
            <a:cxnLst/>
            <a:rect l="l" t="t" r="r" b="b"/>
            <a:pathLst>
              <a:path w="3069038" h="3069038">
                <a:moveTo>
                  <a:pt x="0" y="0"/>
                </a:moveTo>
                <a:lnTo>
                  <a:pt x="3069039" y="0"/>
                </a:lnTo>
                <a:lnTo>
                  <a:pt x="3069039" y="3069038"/>
                </a:lnTo>
                <a:lnTo>
                  <a:pt x="0" y="30690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11"/>
          <p:cNvSpPr/>
          <p:nvPr/>
        </p:nvSpPr>
        <p:spPr>
          <a:xfrm rot="-1974109">
            <a:off x="850534" y="970179"/>
            <a:ext cx="1490319" cy="1289804"/>
          </a:xfrm>
          <a:custGeom>
            <a:avLst/>
            <a:gdLst/>
            <a:ahLst/>
            <a:cxnLst/>
            <a:rect l="l" t="t" r="r" b="b"/>
            <a:pathLst>
              <a:path w="1490319" h="1289804">
                <a:moveTo>
                  <a:pt x="0" y="0"/>
                </a:moveTo>
                <a:lnTo>
                  <a:pt x="1490320" y="0"/>
                </a:lnTo>
                <a:lnTo>
                  <a:pt x="1490320" y="1289803"/>
                </a:lnTo>
                <a:lnTo>
                  <a:pt x="0" y="12898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TextBox 12"/>
          <p:cNvSpPr txBox="1"/>
          <p:nvPr/>
        </p:nvSpPr>
        <p:spPr>
          <a:xfrm>
            <a:off x="2946300" y="1082933"/>
            <a:ext cx="7623855" cy="863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FFFFFF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Wer macht was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64262" y="1028700"/>
            <a:ext cx="8780730" cy="1335744"/>
            <a:chOff x="0" y="0"/>
            <a:chExt cx="1770418" cy="2693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70418" cy="269320"/>
            </a:xfrm>
            <a:custGeom>
              <a:avLst/>
              <a:gdLst/>
              <a:ahLst/>
              <a:cxnLst/>
              <a:rect l="l" t="t" r="r" b="b"/>
              <a:pathLst>
                <a:path w="1770418" h="269320">
                  <a:moveTo>
                    <a:pt x="88169" y="0"/>
                  </a:moveTo>
                  <a:lnTo>
                    <a:pt x="1682249" y="0"/>
                  </a:lnTo>
                  <a:cubicBezTo>
                    <a:pt x="1705633" y="0"/>
                    <a:pt x="1728059" y="9289"/>
                    <a:pt x="1744594" y="25824"/>
                  </a:cubicBezTo>
                  <a:cubicBezTo>
                    <a:pt x="1761129" y="42359"/>
                    <a:pt x="1770418" y="64785"/>
                    <a:pt x="1770418" y="88169"/>
                  </a:cubicBezTo>
                  <a:lnTo>
                    <a:pt x="1770418" y="181150"/>
                  </a:lnTo>
                  <a:cubicBezTo>
                    <a:pt x="1770418" y="204534"/>
                    <a:pt x="1761129" y="226961"/>
                    <a:pt x="1744594" y="243496"/>
                  </a:cubicBezTo>
                  <a:cubicBezTo>
                    <a:pt x="1728059" y="260031"/>
                    <a:pt x="1705633" y="269320"/>
                    <a:pt x="1682249" y="269320"/>
                  </a:cubicBezTo>
                  <a:lnTo>
                    <a:pt x="88169" y="269320"/>
                  </a:lnTo>
                  <a:cubicBezTo>
                    <a:pt x="64785" y="269320"/>
                    <a:pt x="42359" y="260031"/>
                    <a:pt x="25824" y="243496"/>
                  </a:cubicBezTo>
                  <a:cubicBezTo>
                    <a:pt x="9289" y="226961"/>
                    <a:pt x="0" y="204534"/>
                    <a:pt x="0" y="181150"/>
                  </a:cubicBezTo>
                  <a:lnTo>
                    <a:pt x="0" y="88169"/>
                  </a:lnTo>
                  <a:cubicBezTo>
                    <a:pt x="0" y="64785"/>
                    <a:pt x="9289" y="42359"/>
                    <a:pt x="25824" y="25824"/>
                  </a:cubicBezTo>
                  <a:cubicBezTo>
                    <a:pt x="42359" y="9289"/>
                    <a:pt x="64785" y="0"/>
                    <a:pt x="88169" y="0"/>
                  </a:cubicBezTo>
                  <a:close/>
                </a:path>
              </a:pathLst>
            </a:custGeom>
            <a:solidFill>
              <a:srgbClr val="C9AD8D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770418" cy="3169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54144" y="1159802"/>
            <a:ext cx="1073539" cy="1073539"/>
          </a:xfrm>
          <a:custGeom>
            <a:avLst/>
            <a:gdLst/>
            <a:ahLst/>
            <a:cxnLst/>
            <a:rect l="l" t="t" r="r" b="b"/>
            <a:pathLst>
              <a:path w="1073539" h="1073539">
                <a:moveTo>
                  <a:pt x="0" y="0"/>
                </a:moveTo>
                <a:lnTo>
                  <a:pt x="1073539" y="0"/>
                </a:lnTo>
                <a:lnTo>
                  <a:pt x="1073539" y="1073539"/>
                </a:lnTo>
                <a:lnTo>
                  <a:pt x="0" y="10735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TextBox 6"/>
          <p:cNvSpPr txBox="1"/>
          <p:nvPr/>
        </p:nvSpPr>
        <p:spPr>
          <a:xfrm>
            <a:off x="1890914" y="3595998"/>
            <a:ext cx="10782545" cy="4737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88"/>
              </a:lnSpc>
            </a:pPr>
            <a:r>
              <a:rPr lang="en-US" sz="3349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Rechnungen können auf zwei Wegen eingehen:</a:t>
            </a:r>
          </a:p>
          <a:p>
            <a:pPr marL="0" lvl="0" indent="0" algn="l">
              <a:lnSpc>
                <a:spcPts val="4688"/>
              </a:lnSpc>
            </a:pPr>
            <a:endParaRPr lang="en-US" sz="3349">
              <a:solidFill>
                <a:srgbClr val="102C57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723084" lvl="1" indent="-361542" algn="l">
              <a:lnSpc>
                <a:spcPts val="4688"/>
              </a:lnSpc>
              <a:buFont typeface="Arial"/>
              <a:buChar char="•"/>
            </a:pPr>
            <a:r>
              <a:rPr lang="en-US" sz="3349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Per E-Mail an rechnungen@heissundlaut.de (automatisches Einlesen ins System).</a:t>
            </a:r>
          </a:p>
          <a:p>
            <a:pPr marL="723084" lvl="1" indent="-361542" algn="l">
              <a:lnSpc>
                <a:spcPts val="4688"/>
              </a:lnSpc>
              <a:buFont typeface="Arial"/>
              <a:buChar char="•"/>
            </a:pPr>
            <a:r>
              <a:rPr lang="en-US" sz="3349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Per Post in der Zentrale (scannen, speichern und elektronische Weiterverarbeitung).</a:t>
            </a:r>
          </a:p>
          <a:p>
            <a:pPr algn="l">
              <a:lnSpc>
                <a:spcPts val="4688"/>
              </a:lnSpc>
            </a:pPr>
            <a:r>
              <a:rPr lang="en-US" sz="3349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Jede Rechnung erhält eine Dokumenten-ID zur späteren Auffindbarkeit.</a:t>
            </a:r>
          </a:p>
        </p:txBody>
      </p:sp>
      <p:sp>
        <p:nvSpPr>
          <p:cNvPr id="7" name="Freeform 7"/>
          <p:cNvSpPr/>
          <p:nvPr/>
        </p:nvSpPr>
        <p:spPr>
          <a:xfrm>
            <a:off x="14124103" y="6380825"/>
            <a:ext cx="4083110" cy="3906175"/>
          </a:xfrm>
          <a:custGeom>
            <a:avLst/>
            <a:gdLst/>
            <a:ahLst/>
            <a:cxnLst/>
            <a:rect l="l" t="t" r="r" b="b"/>
            <a:pathLst>
              <a:path w="4083110" h="3906175">
                <a:moveTo>
                  <a:pt x="0" y="0"/>
                </a:moveTo>
                <a:lnTo>
                  <a:pt x="4083110" y="0"/>
                </a:lnTo>
                <a:lnTo>
                  <a:pt x="4083110" y="3906175"/>
                </a:lnTo>
                <a:lnTo>
                  <a:pt x="0" y="39061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TextBox 8"/>
          <p:cNvSpPr txBox="1"/>
          <p:nvPr/>
        </p:nvSpPr>
        <p:spPr>
          <a:xfrm>
            <a:off x="2705477" y="1055027"/>
            <a:ext cx="6438523" cy="863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FFFFFF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Eingangsformen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64262" y="1028700"/>
            <a:ext cx="7979738" cy="1335744"/>
            <a:chOff x="0" y="0"/>
            <a:chExt cx="1608918" cy="2693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08918" cy="269320"/>
            </a:xfrm>
            <a:custGeom>
              <a:avLst/>
              <a:gdLst/>
              <a:ahLst/>
              <a:cxnLst/>
              <a:rect l="l" t="t" r="r" b="b"/>
              <a:pathLst>
                <a:path w="1608918" h="269320">
                  <a:moveTo>
                    <a:pt x="97020" y="0"/>
                  </a:moveTo>
                  <a:lnTo>
                    <a:pt x="1511898" y="0"/>
                  </a:lnTo>
                  <a:cubicBezTo>
                    <a:pt x="1565481" y="0"/>
                    <a:pt x="1608918" y="43437"/>
                    <a:pt x="1608918" y="97020"/>
                  </a:cubicBezTo>
                  <a:lnTo>
                    <a:pt x="1608918" y="172300"/>
                  </a:lnTo>
                  <a:cubicBezTo>
                    <a:pt x="1608918" y="198031"/>
                    <a:pt x="1598696" y="222709"/>
                    <a:pt x="1580502" y="240903"/>
                  </a:cubicBezTo>
                  <a:cubicBezTo>
                    <a:pt x="1562307" y="259098"/>
                    <a:pt x="1537629" y="269320"/>
                    <a:pt x="1511898" y="269320"/>
                  </a:cubicBezTo>
                  <a:lnTo>
                    <a:pt x="97020" y="269320"/>
                  </a:lnTo>
                  <a:cubicBezTo>
                    <a:pt x="71288" y="269320"/>
                    <a:pt x="46611" y="259098"/>
                    <a:pt x="28416" y="240903"/>
                  </a:cubicBezTo>
                  <a:cubicBezTo>
                    <a:pt x="10222" y="222709"/>
                    <a:pt x="0" y="198031"/>
                    <a:pt x="0" y="172300"/>
                  </a:cubicBezTo>
                  <a:lnTo>
                    <a:pt x="0" y="97020"/>
                  </a:lnTo>
                  <a:cubicBezTo>
                    <a:pt x="0" y="71288"/>
                    <a:pt x="10222" y="46611"/>
                    <a:pt x="28416" y="28416"/>
                  </a:cubicBezTo>
                  <a:cubicBezTo>
                    <a:pt x="46611" y="10222"/>
                    <a:pt x="71288" y="0"/>
                    <a:pt x="97020" y="0"/>
                  </a:cubicBezTo>
                  <a:close/>
                </a:path>
              </a:pathLst>
            </a:custGeom>
            <a:solidFill>
              <a:srgbClr val="C9AD8D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608918" cy="3169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54144" y="1159802"/>
            <a:ext cx="1073539" cy="1073539"/>
          </a:xfrm>
          <a:custGeom>
            <a:avLst/>
            <a:gdLst/>
            <a:ahLst/>
            <a:cxnLst/>
            <a:rect l="l" t="t" r="r" b="b"/>
            <a:pathLst>
              <a:path w="1073539" h="1073539">
                <a:moveTo>
                  <a:pt x="0" y="0"/>
                </a:moveTo>
                <a:lnTo>
                  <a:pt x="1073539" y="0"/>
                </a:lnTo>
                <a:lnTo>
                  <a:pt x="1073539" y="1073539"/>
                </a:lnTo>
                <a:lnTo>
                  <a:pt x="0" y="10735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TextBox 6"/>
          <p:cNvSpPr txBox="1"/>
          <p:nvPr/>
        </p:nvSpPr>
        <p:spPr>
          <a:xfrm>
            <a:off x="1354144" y="3050821"/>
            <a:ext cx="9774353" cy="5860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8"/>
              </a:lnSpc>
            </a:pPr>
            <a:r>
              <a:rPr lang="en-US" sz="3005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Die Buchhaltung prüft Rechnungen sorgfältig auf:</a:t>
            </a:r>
          </a:p>
          <a:p>
            <a:pPr marL="0" lvl="0" indent="0" algn="l">
              <a:lnSpc>
                <a:spcPts val="4208"/>
              </a:lnSpc>
            </a:pPr>
            <a:endParaRPr lang="en-US" sz="3005">
              <a:solidFill>
                <a:srgbClr val="102C57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648983" lvl="1" indent="-324492" algn="l">
              <a:lnSpc>
                <a:spcPts val="4208"/>
              </a:lnSpc>
              <a:buFont typeface="Arial"/>
              <a:buChar char="•"/>
            </a:pPr>
            <a:r>
              <a:rPr lang="en-US" sz="3005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Erkennbarkeit des Lieferanten</a:t>
            </a:r>
          </a:p>
          <a:p>
            <a:pPr marL="648983" lvl="1" indent="-324492" algn="l">
              <a:lnSpc>
                <a:spcPts val="4208"/>
              </a:lnSpc>
              <a:buFont typeface="Arial"/>
              <a:buChar char="•"/>
            </a:pPr>
            <a:r>
              <a:rPr lang="en-US" sz="3005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Vollständigkeit von Rechnungsnummer, Datum, Betrag und Steuernummer</a:t>
            </a:r>
          </a:p>
          <a:p>
            <a:pPr marL="648983" lvl="1" indent="-324492" algn="l">
              <a:lnSpc>
                <a:spcPts val="4208"/>
              </a:lnSpc>
              <a:buFont typeface="Arial"/>
              <a:buChar char="•"/>
            </a:pPr>
            <a:r>
              <a:rPr lang="en-US" sz="3005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Korrekte Berechnung der Summe</a:t>
            </a:r>
          </a:p>
          <a:p>
            <a:pPr marL="648983" lvl="1" indent="-324492" algn="l">
              <a:lnSpc>
                <a:spcPts val="4208"/>
              </a:lnSpc>
              <a:buFont typeface="Arial"/>
              <a:buChar char="•"/>
            </a:pPr>
            <a:r>
              <a:rPr lang="en-US" sz="3005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Duplikatsprüfung</a:t>
            </a:r>
          </a:p>
          <a:p>
            <a:pPr algn="l">
              <a:lnSpc>
                <a:spcPts val="4208"/>
              </a:lnSpc>
            </a:pPr>
            <a:r>
              <a:rPr lang="en-US" sz="3005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Fehlende oder unklare Informationen führen zur Rücksendung an den Lieferanten mit Anweisungen zur Korrektur. Nur bei vollständigen und korrekten Rechnungen geht es zur nächsten Stufe.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71729" y="1055027"/>
            <a:ext cx="6202039" cy="863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FFFFFF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Formelle Prüfung</a:t>
            </a:r>
          </a:p>
        </p:txBody>
      </p:sp>
      <p:sp>
        <p:nvSpPr>
          <p:cNvPr id="8" name="Freeform 8"/>
          <p:cNvSpPr/>
          <p:nvPr/>
        </p:nvSpPr>
        <p:spPr>
          <a:xfrm>
            <a:off x="14124103" y="6380825"/>
            <a:ext cx="4083110" cy="3906175"/>
          </a:xfrm>
          <a:custGeom>
            <a:avLst/>
            <a:gdLst/>
            <a:ahLst/>
            <a:cxnLst/>
            <a:rect l="l" t="t" r="r" b="b"/>
            <a:pathLst>
              <a:path w="4083110" h="3906175">
                <a:moveTo>
                  <a:pt x="0" y="0"/>
                </a:moveTo>
                <a:lnTo>
                  <a:pt x="4083110" y="0"/>
                </a:lnTo>
                <a:lnTo>
                  <a:pt x="4083110" y="3906175"/>
                </a:lnTo>
                <a:lnTo>
                  <a:pt x="0" y="39061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64262" y="1028700"/>
            <a:ext cx="10167812" cy="1335744"/>
            <a:chOff x="0" y="0"/>
            <a:chExt cx="2050089" cy="2693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50089" cy="269320"/>
            </a:xfrm>
            <a:custGeom>
              <a:avLst/>
              <a:gdLst/>
              <a:ahLst/>
              <a:cxnLst/>
              <a:rect l="l" t="t" r="r" b="b"/>
              <a:pathLst>
                <a:path w="2050089" h="269320">
                  <a:moveTo>
                    <a:pt x="76141" y="0"/>
                  </a:moveTo>
                  <a:lnTo>
                    <a:pt x="1973948" y="0"/>
                  </a:lnTo>
                  <a:cubicBezTo>
                    <a:pt x="2016000" y="0"/>
                    <a:pt x="2050089" y="34090"/>
                    <a:pt x="2050089" y="76141"/>
                  </a:cubicBezTo>
                  <a:lnTo>
                    <a:pt x="2050089" y="193178"/>
                  </a:lnTo>
                  <a:cubicBezTo>
                    <a:pt x="2050089" y="235230"/>
                    <a:pt x="2016000" y="269320"/>
                    <a:pt x="1973948" y="269320"/>
                  </a:cubicBezTo>
                  <a:lnTo>
                    <a:pt x="76141" y="269320"/>
                  </a:lnTo>
                  <a:cubicBezTo>
                    <a:pt x="34090" y="269320"/>
                    <a:pt x="0" y="235230"/>
                    <a:pt x="0" y="193178"/>
                  </a:cubicBezTo>
                  <a:lnTo>
                    <a:pt x="0" y="76141"/>
                  </a:lnTo>
                  <a:cubicBezTo>
                    <a:pt x="0" y="34090"/>
                    <a:pt x="34090" y="0"/>
                    <a:pt x="76141" y="0"/>
                  </a:cubicBezTo>
                  <a:close/>
                </a:path>
              </a:pathLst>
            </a:custGeom>
            <a:solidFill>
              <a:srgbClr val="C9AD8D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050089" cy="3169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54144" y="1159802"/>
            <a:ext cx="1073539" cy="1073539"/>
          </a:xfrm>
          <a:custGeom>
            <a:avLst/>
            <a:gdLst/>
            <a:ahLst/>
            <a:cxnLst/>
            <a:rect l="l" t="t" r="r" b="b"/>
            <a:pathLst>
              <a:path w="1073539" h="1073539">
                <a:moveTo>
                  <a:pt x="0" y="0"/>
                </a:moveTo>
                <a:lnTo>
                  <a:pt x="1073539" y="0"/>
                </a:lnTo>
                <a:lnTo>
                  <a:pt x="1073539" y="1073539"/>
                </a:lnTo>
                <a:lnTo>
                  <a:pt x="0" y="10735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TextBox 6"/>
          <p:cNvSpPr txBox="1"/>
          <p:nvPr/>
        </p:nvSpPr>
        <p:spPr>
          <a:xfrm>
            <a:off x="1649911" y="2736967"/>
            <a:ext cx="11358177" cy="610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88"/>
              </a:lnSpc>
            </a:pPr>
            <a:r>
              <a:rPr lang="en-US" sz="3134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Das System prüft, ob eine Bestellnummer auf der Rechnung vorhanden ist:</a:t>
            </a:r>
          </a:p>
          <a:p>
            <a:pPr marL="0" lvl="0" indent="0" algn="l">
              <a:lnSpc>
                <a:spcPts val="4388"/>
              </a:lnSpc>
            </a:pPr>
            <a:endParaRPr lang="en-US" sz="3134">
              <a:solidFill>
                <a:srgbClr val="102C57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676773" lvl="1" indent="-338386" algn="l">
              <a:lnSpc>
                <a:spcPts val="4388"/>
              </a:lnSpc>
              <a:buFont typeface="Arial"/>
              <a:buChar char="•"/>
            </a:pPr>
            <a:r>
              <a:rPr lang="en-US" sz="3134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Bei Ja: Automatische Verknüpfung mit der Bestellung im SAP-System.</a:t>
            </a:r>
          </a:p>
          <a:p>
            <a:pPr marL="676773" lvl="1" indent="-338386" algn="l">
              <a:lnSpc>
                <a:spcPts val="4388"/>
              </a:lnSpc>
              <a:buFont typeface="Arial"/>
              <a:buChar char="•"/>
            </a:pPr>
            <a:r>
              <a:rPr lang="en-US" sz="3134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Bei Nein: Buchhaltung prüft, ob ein Rahmenvertrag existiert.</a:t>
            </a:r>
          </a:p>
          <a:p>
            <a:pPr marL="676773" lvl="1" indent="-338386" algn="l">
              <a:lnSpc>
                <a:spcPts val="4388"/>
              </a:lnSpc>
              <a:buFont typeface="Arial"/>
              <a:buChar char="•"/>
            </a:pPr>
            <a:r>
              <a:rPr lang="en-US" sz="3134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Wenn das auch nicht zutrifft, wird in der Fachabteilung nachgefragt.</a:t>
            </a:r>
          </a:p>
          <a:p>
            <a:pPr algn="l">
              <a:lnSpc>
                <a:spcPts val="4388"/>
              </a:lnSpc>
            </a:pPr>
            <a:r>
              <a:rPr lang="en-US" sz="3134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Beispiel: Ein Lieferant sendet eine Rechnung für Maschinenöle ohne Bestellnummer; die Buchhaltung fragt in der Instandhaltung nach einem Vertrag oder einer Bestellung.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52192" y="1055027"/>
            <a:ext cx="7979849" cy="863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FFFFFF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Bestellbezug</a:t>
            </a:r>
          </a:p>
        </p:txBody>
      </p:sp>
      <p:sp>
        <p:nvSpPr>
          <p:cNvPr id="8" name="Freeform 8"/>
          <p:cNvSpPr/>
          <p:nvPr/>
        </p:nvSpPr>
        <p:spPr>
          <a:xfrm>
            <a:off x="14124103" y="6380825"/>
            <a:ext cx="4083110" cy="3906175"/>
          </a:xfrm>
          <a:custGeom>
            <a:avLst/>
            <a:gdLst/>
            <a:ahLst/>
            <a:cxnLst/>
            <a:rect l="l" t="t" r="r" b="b"/>
            <a:pathLst>
              <a:path w="4083110" h="3906175">
                <a:moveTo>
                  <a:pt x="0" y="0"/>
                </a:moveTo>
                <a:lnTo>
                  <a:pt x="4083110" y="0"/>
                </a:lnTo>
                <a:lnTo>
                  <a:pt x="4083110" y="3906175"/>
                </a:lnTo>
                <a:lnTo>
                  <a:pt x="0" y="39061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432" y="1028700"/>
            <a:ext cx="9095295" cy="1335744"/>
            <a:chOff x="0" y="0"/>
            <a:chExt cx="1833843" cy="2693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33843" cy="269320"/>
            </a:xfrm>
            <a:custGeom>
              <a:avLst/>
              <a:gdLst/>
              <a:ahLst/>
              <a:cxnLst/>
              <a:rect l="l" t="t" r="r" b="b"/>
              <a:pathLst>
                <a:path w="1833843" h="269320">
                  <a:moveTo>
                    <a:pt x="85120" y="0"/>
                  </a:moveTo>
                  <a:lnTo>
                    <a:pt x="1748723" y="0"/>
                  </a:lnTo>
                  <a:cubicBezTo>
                    <a:pt x="1795733" y="0"/>
                    <a:pt x="1833843" y="38110"/>
                    <a:pt x="1833843" y="85120"/>
                  </a:cubicBezTo>
                  <a:lnTo>
                    <a:pt x="1833843" y="184200"/>
                  </a:lnTo>
                  <a:cubicBezTo>
                    <a:pt x="1833843" y="231210"/>
                    <a:pt x="1795733" y="269320"/>
                    <a:pt x="1748723" y="269320"/>
                  </a:cubicBezTo>
                  <a:lnTo>
                    <a:pt x="85120" y="269320"/>
                  </a:lnTo>
                  <a:cubicBezTo>
                    <a:pt x="62545" y="269320"/>
                    <a:pt x="40894" y="260352"/>
                    <a:pt x="24931" y="244389"/>
                  </a:cubicBezTo>
                  <a:cubicBezTo>
                    <a:pt x="8968" y="228426"/>
                    <a:pt x="0" y="206775"/>
                    <a:pt x="0" y="184200"/>
                  </a:cubicBezTo>
                  <a:lnTo>
                    <a:pt x="0" y="85120"/>
                  </a:lnTo>
                  <a:cubicBezTo>
                    <a:pt x="0" y="38110"/>
                    <a:pt x="38110" y="0"/>
                    <a:pt x="85120" y="0"/>
                  </a:cubicBezTo>
                  <a:close/>
                </a:path>
              </a:pathLst>
            </a:custGeom>
            <a:solidFill>
              <a:srgbClr val="C9AD8D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833843" cy="3169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571346" y="2782033"/>
            <a:ext cx="10761924" cy="5562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97"/>
              </a:lnSpc>
            </a:pPr>
            <a:r>
              <a:rPr lang="en-US" sz="3140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Die Fachabteilung überprüft folgende Punkte:</a:t>
            </a:r>
          </a:p>
          <a:p>
            <a:pPr marL="0" lvl="0" indent="0" algn="l">
              <a:lnSpc>
                <a:spcPts val="4397"/>
              </a:lnSpc>
            </a:pPr>
            <a:endParaRPr lang="en-US" sz="3140">
              <a:solidFill>
                <a:srgbClr val="102C57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678125" lvl="1" indent="-339063" algn="l">
              <a:lnSpc>
                <a:spcPts val="4397"/>
              </a:lnSpc>
              <a:buFont typeface="Arial"/>
              <a:buChar char="•"/>
            </a:pPr>
            <a:r>
              <a:rPr lang="en-US" sz="3140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Lieferung entspricht der Bestellung?</a:t>
            </a:r>
          </a:p>
          <a:p>
            <a:pPr marL="678125" lvl="1" indent="-339063" algn="l">
              <a:lnSpc>
                <a:spcPts val="4397"/>
              </a:lnSpc>
              <a:buFont typeface="Arial"/>
              <a:buChar char="•"/>
            </a:pPr>
            <a:r>
              <a:rPr lang="en-US" sz="3140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Menge und Preis stimmen?</a:t>
            </a:r>
          </a:p>
          <a:p>
            <a:pPr marL="678125" lvl="1" indent="-339063" algn="l">
              <a:lnSpc>
                <a:spcPts val="4397"/>
              </a:lnSpc>
              <a:buFont typeface="Arial"/>
              <a:buChar char="•"/>
            </a:pPr>
            <a:r>
              <a:rPr lang="en-US" sz="3140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Wurde die Leistung (z. B. Monteur vor Ort) erbracht?</a:t>
            </a:r>
          </a:p>
          <a:p>
            <a:pPr marL="678125" lvl="1" indent="-339063" algn="l">
              <a:lnSpc>
                <a:spcPts val="4397"/>
              </a:lnSpc>
              <a:buFont typeface="Arial"/>
              <a:buChar char="•"/>
            </a:pPr>
            <a:r>
              <a:rPr lang="en-US" sz="3140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Ist die Kontierung korrekt (Kostenstelle, Projekt)?</a:t>
            </a:r>
          </a:p>
          <a:p>
            <a:pPr algn="l">
              <a:lnSpc>
                <a:spcPts val="4397"/>
              </a:lnSpc>
            </a:pPr>
            <a:r>
              <a:rPr lang="en-US" sz="3140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Nach Bestätigung wird die Richtigkeit im System vermerkt. Bei Unstimmigkeiten erfolgt eine Klärung mit dem Lieferanten oder der Buchhaltung, z. B. wenn ein Monteur 8 Stunden angibt, aber nur für 4 Stunden beauftragt war.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89322" y="1028700"/>
            <a:ext cx="1478756" cy="1820008"/>
            <a:chOff x="0" y="0"/>
            <a:chExt cx="6604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EADBC8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660400" cy="733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flipH="1">
            <a:off x="13019163" y="5669583"/>
            <a:ext cx="5268837" cy="4617417"/>
          </a:xfrm>
          <a:custGeom>
            <a:avLst/>
            <a:gdLst/>
            <a:ahLst/>
            <a:cxnLst/>
            <a:rect l="l" t="t" r="r" b="b"/>
            <a:pathLst>
              <a:path w="5268837" h="4617417">
                <a:moveTo>
                  <a:pt x="5268837" y="0"/>
                </a:moveTo>
                <a:lnTo>
                  <a:pt x="0" y="0"/>
                </a:lnTo>
                <a:lnTo>
                  <a:pt x="0" y="4617417"/>
                </a:lnTo>
                <a:lnTo>
                  <a:pt x="5268837" y="4617417"/>
                </a:lnTo>
                <a:lnTo>
                  <a:pt x="526883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TextBox 10"/>
          <p:cNvSpPr txBox="1"/>
          <p:nvPr/>
        </p:nvSpPr>
        <p:spPr>
          <a:xfrm>
            <a:off x="2345678" y="1045062"/>
            <a:ext cx="5205683" cy="863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FFFFFF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Sachl. Prüfung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86054" y="1028700"/>
            <a:ext cx="1085292" cy="1645599"/>
            <a:chOff x="0" y="0"/>
            <a:chExt cx="660400" cy="100134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60400" cy="1001347"/>
            </a:xfrm>
            <a:custGeom>
              <a:avLst/>
              <a:gdLst/>
              <a:ahLst/>
              <a:cxnLst/>
              <a:rect l="l" t="t" r="r" b="b"/>
              <a:pathLst>
                <a:path w="660400" h="1001347">
                  <a:moveTo>
                    <a:pt x="220252" y="982278"/>
                  </a:moveTo>
                  <a:cubicBezTo>
                    <a:pt x="254109" y="993792"/>
                    <a:pt x="292600" y="1001347"/>
                    <a:pt x="330378" y="1001347"/>
                  </a:cubicBezTo>
                  <a:cubicBezTo>
                    <a:pt x="368157" y="1001347"/>
                    <a:pt x="404509" y="994870"/>
                    <a:pt x="438009" y="983356"/>
                  </a:cubicBezTo>
                  <a:cubicBezTo>
                    <a:pt x="438723" y="982997"/>
                    <a:pt x="439435" y="982997"/>
                    <a:pt x="440148" y="982637"/>
                  </a:cubicBezTo>
                  <a:cubicBezTo>
                    <a:pt x="565955" y="936582"/>
                    <a:pt x="658618" y="814968"/>
                    <a:pt x="660400" y="668657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668161"/>
                  </a:lnTo>
                  <a:cubicBezTo>
                    <a:pt x="1782" y="815687"/>
                    <a:pt x="93019" y="937302"/>
                    <a:pt x="220252" y="982278"/>
                  </a:cubicBezTo>
                  <a:close/>
                </a:path>
              </a:pathLst>
            </a:custGeom>
            <a:solidFill>
              <a:srgbClr val="F8F0E5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660400" cy="9219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432" y="1028700"/>
            <a:ext cx="10540987" cy="1335744"/>
            <a:chOff x="0" y="0"/>
            <a:chExt cx="2125331" cy="2693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25331" cy="269320"/>
            </a:xfrm>
            <a:custGeom>
              <a:avLst/>
              <a:gdLst/>
              <a:ahLst/>
              <a:cxnLst/>
              <a:rect l="l" t="t" r="r" b="b"/>
              <a:pathLst>
                <a:path w="2125331" h="269320">
                  <a:moveTo>
                    <a:pt x="73446" y="0"/>
                  </a:moveTo>
                  <a:lnTo>
                    <a:pt x="2051885" y="0"/>
                  </a:lnTo>
                  <a:cubicBezTo>
                    <a:pt x="2092448" y="0"/>
                    <a:pt x="2125331" y="32883"/>
                    <a:pt x="2125331" y="73446"/>
                  </a:cubicBezTo>
                  <a:lnTo>
                    <a:pt x="2125331" y="195874"/>
                  </a:lnTo>
                  <a:cubicBezTo>
                    <a:pt x="2125331" y="236437"/>
                    <a:pt x="2092448" y="269320"/>
                    <a:pt x="2051885" y="269320"/>
                  </a:cubicBezTo>
                  <a:lnTo>
                    <a:pt x="73446" y="269320"/>
                  </a:lnTo>
                  <a:cubicBezTo>
                    <a:pt x="32883" y="269320"/>
                    <a:pt x="0" y="236437"/>
                    <a:pt x="0" y="195874"/>
                  </a:cubicBezTo>
                  <a:lnTo>
                    <a:pt x="0" y="73446"/>
                  </a:lnTo>
                  <a:cubicBezTo>
                    <a:pt x="0" y="32883"/>
                    <a:pt x="32883" y="0"/>
                    <a:pt x="73446" y="0"/>
                  </a:cubicBezTo>
                  <a:close/>
                </a:path>
              </a:pathLst>
            </a:custGeom>
            <a:solidFill>
              <a:srgbClr val="C9AD8D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125331" cy="3169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890914" y="3409560"/>
            <a:ext cx="8436801" cy="5720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16"/>
              </a:lnSpc>
            </a:pPr>
            <a:r>
              <a:rPr lang="en-US" sz="3225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Nach der Prüfung wird die Rechnung an die freigabeberechtigte Person, meist die Führungskraft oder Budgetverantwortliche, gesendet. Diese prüft die Notwendigkeit, das Budget und die Freigabefähigkeit. </a:t>
            </a:r>
          </a:p>
          <a:p>
            <a:pPr marL="0" lvl="0" indent="0" algn="l">
              <a:lnSpc>
                <a:spcPts val="4516"/>
              </a:lnSpc>
            </a:pPr>
            <a:endParaRPr lang="en-US" sz="3225">
              <a:solidFill>
                <a:srgbClr val="102C57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algn="l">
              <a:lnSpc>
                <a:spcPts val="4516"/>
              </a:lnSpc>
            </a:pPr>
            <a:r>
              <a:rPr lang="en-US" sz="3225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Die Freigabe erfolgt elektronisch im SAP-System; bei Ablehnung wird die Rechnung zurück an die Buchhaltung mit einem Grund gesendet.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89322" y="1028700"/>
            <a:ext cx="1478756" cy="1820008"/>
            <a:chOff x="0" y="0"/>
            <a:chExt cx="6604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EADBC8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660400" cy="733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flipH="1">
            <a:off x="13019163" y="5669583"/>
            <a:ext cx="5268837" cy="4617417"/>
          </a:xfrm>
          <a:custGeom>
            <a:avLst/>
            <a:gdLst/>
            <a:ahLst/>
            <a:cxnLst/>
            <a:rect l="l" t="t" r="r" b="b"/>
            <a:pathLst>
              <a:path w="5268837" h="4617417">
                <a:moveTo>
                  <a:pt x="5268837" y="0"/>
                </a:moveTo>
                <a:lnTo>
                  <a:pt x="0" y="0"/>
                </a:lnTo>
                <a:lnTo>
                  <a:pt x="0" y="4617417"/>
                </a:lnTo>
                <a:lnTo>
                  <a:pt x="5268837" y="4617417"/>
                </a:lnTo>
                <a:lnTo>
                  <a:pt x="526883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TextBox 10"/>
          <p:cNvSpPr txBox="1"/>
          <p:nvPr/>
        </p:nvSpPr>
        <p:spPr>
          <a:xfrm>
            <a:off x="2306605" y="1045062"/>
            <a:ext cx="7003030" cy="863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FFFFFF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Freigabe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86054" y="1028700"/>
            <a:ext cx="1085292" cy="1645599"/>
            <a:chOff x="0" y="0"/>
            <a:chExt cx="660400" cy="100134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60400" cy="1001347"/>
            </a:xfrm>
            <a:custGeom>
              <a:avLst/>
              <a:gdLst/>
              <a:ahLst/>
              <a:cxnLst/>
              <a:rect l="l" t="t" r="r" b="b"/>
              <a:pathLst>
                <a:path w="660400" h="1001347">
                  <a:moveTo>
                    <a:pt x="220252" y="982278"/>
                  </a:moveTo>
                  <a:cubicBezTo>
                    <a:pt x="254109" y="993792"/>
                    <a:pt x="292600" y="1001347"/>
                    <a:pt x="330378" y="1001347"/>
                  </a:cubicBezTo>
                  <a:cubicBezTo>
                    <a:pt x="368157" y="1001347"/>
                    <a:pt x="404509" y="994870"/>
                    <a:pt x="438009" y="983356"/>
                  </a:cubicBezTo>
                  <a:cubicBezTo>
                    <a:pt x="438723" y="982997"/>
                    <a:pt x="439435" y="982997"/>
                    <a:pt x="440148" y="982637"/>
                  </a:cubicBezTo>
                  <a:cubicBezTo>
                    <a:pt x="565955" y="936582"/>
                    <a:pt x="658618" y="814968"/>
                    <a:pt x="660400" y="668657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668161"/>
                  </a:lnTo>
                  <a:cubicBezTo>
                    <a:pt x="1782" y="815687"/>
                    <a:pt x="93019" y="937302"/>
                    <a:pt x="220252" y="982278"/>
                  </a:cubicBezTo>
                  <a:close/>
                </a:path>
              </a:pathLst>
            </a:custGeom>
            <a:solidFill>
              <a:srgbClr val="F8F0E5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660400" cy="9219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432" y="1028700"/>
            <a:ext cx="10540987" cy="1335744"/>
            <a:chOff x="0" y="0"/>
            <a:chExt cx="2125331" cy="2693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25331" cy="269320"/>
            </a:xfrm>
            <a:custGeom>
              <a:avLst/>
              <a:gdLst/>
              <a:ahLst/>
              <a:cxnLst/>
              <a:rect l="l" t="t" r="r" b="b"/>
              <a:pathLst>
                <a:path w="2125331" h="269320">
                  <a:moveTo>
                    <a:pt x="73446" y="0"/>
                  </a:moveTo>
                  <a:lnTo>
                    <a:pt x="2051885" y="0"/>
                  </a:lnTo>
                  <a:cubicBezTo>
                    <a:pt x="2092448" y="0"/>
                    <a:pt x="2125331" y="32883"/>
                    <a:pt x="2125331" y="73446"/>
                  </a:cubicBezTo>
                  <a:lnTo>
                    <a:pt x="2125331" y="195874"/>
                  </a:lnTo>
                  <a:cubicBezTo>
                    <a:pt x="2125331" y="236437"/>
                    <a:pt x="2092448" y="269320"/>
                    <a:pt x="2051885" y="269320"/>
                  </a:cubicBezTo>
                  <a:lnTo>
                    <a:pt x="73446" y="269320"/>
                  </a:lnTo>
                  <a:cubicBezTo>
                    <a:pt x="32883" y="269320"/>
                    <a:pt x="0" y="236437"/>
                    <a:pt x="0" y="195874"/>
                  </a:cubicBezTo>
                  <a:lnTo>
                    <a:pt x="0" y="73446"/>
                  </a:lnTo>
                  <a:cubicBezTo>
                    <a:pt x="0" y="32883"/>
                    <a:pt x="32883" y="0"/>
                    <a:pt x="73446" y="0"/>
                  </a:cubicBezTo>
                  <a:close/>
                </a:path>
              </a:pathLst>
            </a:custGeom>
            <a:solidFill>
              <a:srgbClr val="C9AD8D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125331" cy="3169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890914" y="3409560"/>
            <a:ext cx="10359237" cy="5720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16"/>
              </a:lnSpc>
            </a:pPr>
            <a:r>
              <a:rPr lang="en-US" sz="3225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Nach der Freigabe erfolgt automatisch:</a:t>
            </a:r>
          </a:p>
          <a:p>
            <a:pPr marL="0" lvl="0" indent="0" algn="l">
              <a:lnSpc>
                <a:spcPts val="4516"/>
              </a:lnSpc>
            </a:pPr>
            <a:endParaRPr lang="en-US" sz="3225">
              <a:solidFill>
                <a:srgbClr val="102C57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696488" lvl="1" indent="-348244" algn="l">
              <a:lnSpc>
                <a:spcPts val="4516"/>
              </a:lnSpc>
              <a:buFont typeface="Arial"/>
              <a:buChar char="•"/>
            </a:pPr>
            <a:r>
              <a:rPr lang="en-US" sz="3225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Buchung der Rechnung </a:t>
            </a:r>
          </a:p>
          <a:p>
            <a:pPr marL="696488" lvl="1" indent="-348244" algn="l">
              <a:lnSpc>
                <a:spcPts val="4516"/>
              </a:lnSpc>
              <a:buFont typeface="Arial"/>
              <a:buChar char="•"/>
            </a:pPr>
            <a:r>
              <a:rPr lang="en-US" sz="3225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Aufnahme im Zahlungsvorschlag </a:t>
            </a:r>
          </a:p>
          <a:p>
            <a:pPr marL="696488" lvl="1" indent="-348244" algn="l">
              <a:lnSpc>
                <a:spcPts val="4516"/>
              </a:lnSpc>
              <a:buFont typeface="Arial"/>
              <a:buChar char="•"/>
            </a:pPr>
            <a:r>
              <a:rPr lang="en-US" sz="3225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Prüfung durch die Finanzbuchhaltung und Freigabe der Zahlung </a:t>
            </a:r>
          </a:p>
          <a:p>
            <a:pPr marL="696488" lvl="1" indent="-348244" algn="l">
              <a:lnSpc>
                <a:spcPts val="4516"/>
              </a:lnSpc>
              <a:buFont typeface="Arial"/>
              <a:buChar char="•"/>
            </a:pPr>
            <a:r>
              <a:rPr lang="en-US" sz="3225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Elektronische Überweisung über das SAP-System </a:t>
            </a:r>
          </a:p>
          <a:p>
            <a:pPr algn="l">
              <a:lnSpc>
                <a:spcPts val="4516"/>
              </a:lnSpc>
            </a:pPr>
            <a:r>
              <a:rPr lang="en-US" sz="3225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Nach der Zahlung wird der Vorgang als „bezahlt“ markiert. Wichtig: Unfreigegebene Zahlungen werden automatisch verhindert.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89322" y="1028700"/>
            <a:ext cx="1478756" cy="1820008"/>
            <a:chOff x="0" y="0"/>
            <a:chExt cx="6604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EADBC8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660400" cy="733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flipH="1">
            <a:off x="13019163" y="5669583"/>
            <a:ext cx="5268837" cy="4617417"/>
          </a:xfrm>
          <a:custGeom>
            <a:avLst/>
            <a:gdLst/>
            <a:ahLst/>
            <a:cxnLst/>
            <a:rect l="l" t="t" r="r" b="b"/>
            <a:pathLst>
              <a:path w="5268837" h="4617417">
                <a:moveTo>
                  <a:pt x="5268837" y="0"/>
                </a:moveTo>
                <a:lnTo>
                  <a:pt x="0" y="0"/>
                </a:lnTo>
                <a:lnTo>
                  <a:pt x="0" y="4617417"/>
                </a:lnTo>
                <a:lnTo>
                  <a:pt x="5268837" y="4617417"/>
                </a:lnTo>
                <a:lnTo>
                  <a:pt x="526883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TextBox 10"/>
          <p:cNvSpPr txBox="1"/>
          <p:nvPr/>
        </p:nvSpPr>
        <p:spPr>
          <a:xfrm>
            <a:off x="2306605" y="1045062"/>
            <a:ext cx="7003030" cy="863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FFFFFF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Zahlung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86054" y="1028700"/>
            <a:ext cx="1085292" cy="1645599"/>
            <a:chOff x="0" y="0"/>
            <a:chExt cx="660400" cy="100134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60400" cy="1001347"/>
            </a:xfrm>
            <a:custGeom>
              <a:avLst/>
              <a:gdLst/>
              <a:ahLst/>
              <a:cxnLst/>
              <a:rect l="l" t="t" r="r" b="b"/>
              <a:pathLst>
                <a:path w="660400" h="1001347">
                  <a:moveTo>
                    <a:pt x="220252" y="982278"/>
                  </a:moveTo>
                  <a:cubicBezTo>
                    <a:pt x="254109" y="993792"/>
                    <a:pt x="292600" y="1001347"/>
                    <a:pt x="330378" y="1001347"/>
                  </a:cubicBezTo>
                  <a:cubicBezTo>
                    <a:pt x="368157" y="1001347"/>
                    <a:pt x="404509" y="994870"/>
                    <a:pt x="438009" y="983356"/>
                  </a:cubicBezTo>
                  <a:cubicBezTo>
                    <a:pt x="438723" y="982997"/>
                    <a:pt x="439435" y="982997"/>
                    <a:pt x="440148" y="982637"/>
                  </a:cubicBezTo>
                  <a:cubicBezTo>
                    <a:pt x="565955" y="936582"/>
                    <a:pt x="658618" y="814968"/>
                    <a:pt x="660400" y="668657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668161"/>
                  </a:lnTo>
                  <a:cubicBezTo>
                    <a:pt x="1782" y="815687"/>
                    <a:pt x="93019" y="937302"/>
                    <a:pt x="220252" y="982278"/>
                  </a:cubicBezTo>
                  <a:close/>
                </a:path>
              </a:pathLst>
            </a:custGeom>
            <a:solidFill>
              <a:srgbClr val="F8F0E5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660400" cy="9219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432" y="1028700"/>
            <a:ext cx="10540987" cy="1335744"/>
            <a:chOff x="0" y="0"/>
            <a:chExt cx="2125331" cy="2693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25331" cy="269320"/>
            </a:xfrm>
            <a:custGeom>
              <a:avLst/>
              <a:gdLst/>
              <a:ahLst/>
              <a:cxnLst/>
              <a:rect l="l" t="t" r="r" b="b"/>
              <a:pathLst>
                <a:path w="2125331" h="269320">
                  <a:moveTo>
                    <a:pt x="73446" y="0"/>
                  </a:moveTo>
                  <a:lnTo>
                    <a:pt x="2051885" y="0"/>
                  </a:lnTo>
                  <a:cubicBezTo>
                    <a:pt x="2092448" y="0"/>
                    <a:pt x="2125331" y="32883"/>
                    <a:pt x="2125331" y="73446"/>
                  </a:cubicBezTo>
                  <a:lnTo>
                    <a:pt x="2125331" y="195874"/>
                  </a:lnTo>
                  <a:cubicBezTo>
                    <a:pt x="2125331" y="236437"/>
                    <a:pt x="2092448" y="269320"/>
                    <a:pt x="2051885" y="269320"/>
                  </a:cubicBezTo>
                  <a:lnTo>
                    <a:pt x="73446" y="269320"/>
                  </a:lnTo>
                  <a:cubicBezTo>
                    <a:pt x="32883" y="269320"/>
                    <a:pt x="0" y="236437"/>
                    <a:pt x="0" y="195874"/>
                  </a:cubicBezTo>
                  <a:lnTo>
                    <a:pt x="0" y="73446"/>
                  </a:lnTo>
                  <a:cubicBezTo>
                    <a:pt x="0" y="32883"/>
                    <a:pt x="32883" y="0"/>
                    <a:pt x="73446" y="0"/>
                  </a:cubicBezTo>
                  <a:close/>
                </a:path>
              </a:pathLst>
            </a:custGeom>
            <a:solidFill>
              <a:srgbClr val="C9AD8D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125331" cy="3169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890914" y="3419085"/>
            <a:ext cx="10353839" cy="5979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32"/>
              </a:lnSpc>
            </a:pPr>
            <a:r>
              <a:rPr lang="en-US" sz="2809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Nach der Zahlung wird die Rechnung mit Freigaben und Kommentaren im elektronischen Archiv (DMS) für mindestens 10 Jahre gespeichert. Alles ist nachvollziehbar:</a:t>
            </a:r>
          </a:p>
          <a:p>
            <a:pPr marL="0" lvl="0" indent="0" algn="l">
              <a:lnSpc>
                <a:spcPts val="3932"/>
              </a:lnSpc>
            </a:pPr>
            <a:endParaRPr lang="en-US" sz="2809">
              <a:solidFill>
                <a:srgbClr val="102C57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606482" lvl="1" indent="-303241" algn="l">
              <a:lnSpc>
                <a:spcPts val="3932"/>
              </a:lnSpc>
              <a:buFont typeface="Arial"/>
              <a:buChar char="•"/>
            </a:pPr>
            <a:r>
              <a:rPr lang="en-US" sz="2809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Prüfdatum und Prüfer</a:t>
            </a:r>
          </a:p>
          <a:p>
            <a:pPr marL="606482" lvl="1" indent="-303241" algn="l">
              <a:lnSpc>
                <a:spcPts val="3932"/>
              </a:lnSpc>
              <a:buFont typeface="Arial"/>
              <a:buChar char="•"/>
            </a:pPr>
            <a:r>
              <a:rPr lang="en-US" sz="2809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Freigabedatum und Freigabeperson</a:t>
            </a:r>
          </a:p>
          <a:p>
            <a:pPr marL="606482" lvl="1" indent="-303241" algn="l">
              <a:lnSpc>
                <a:spcPts val="3932"/>
              </a:lnSpc>
              <a:buFont typeface="Arial"/>
              <a:buChar char="•"/>
            </a:pPr>
            <a:r>
              <a:rPr lang="en-US" sz="2809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Zahlungsdatum</a:t>
            </a:r>
          </a:p>
          <a:p>
            <a:pPr marL="0" lvl="0" indent="0" algn="l">
              <a:lnSpc>
                <a:spcPts val="3932"/>
              </a:lnSpc>
            </a:pPr>
            <a:r>
              <a:rPr lang="en-US" sz="2809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Dies ist wichtig für:</a:t>
            </a:r>
          </a:p>
          <a:p>
            <a:pPr marL="0" lvl="0" indent="0" algn="l">
              <a:lnSpc>
                <a:spcPts val="3932"/>
              </a:lnSpc>
            </a:pPr>
            <a:endParaRPr lang="en-US" sz="2809">
              <a:solidFill>
                <a:srgbClr val="102C57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606482" lvl="1" indent="-303241" algn="l">
              <a:lnSpc>
                <a:spcPts val="3932"/>
              </a:lnSpc>
              <a:buFont typeface="Arial"/>
              <a:buChar char="•"/>
            </a:pPr>
            <a:r>
              <a:rPr lang="en-US" sz="2809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interne Prüfungen</a:t>
            </a:r>
          </a:p>
          <a:p>
            <a:pPr marL="606482" lvl="1" indent="-303241" algn="l">
              <a:lnSpc>
                <a:spcPts val="3932"/>
              </a:lnSpc>
              <a:buFont typeface="Arial"/>
              <a:buChar char="•"/>
            </a:pPr>
            <a:r>
              <a:rPr lang="en-US" sz="2809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Steuerprüfungen</a:t>
            </a:r>
          </a:p>
          <a:p>
            <a:pPr algn="l">
              <a:lnSpc>
                <a:spcPts val="3932"/>
              </a:lnSpc>
            </a:pPr>
            <a:r>
              <a:rPr lang="en-US" sz="2809">
                <a:solidFill>
                  <a:srgbClr val="102C57"/>
                </a:solidFill>
                <a:latin typeface="Questrial"/>
                <a:ea typeface="Questrial"/>
                <a:cs typeface="Questrial"/>
                <a:sym typeface="Questrial"/>
              </a:rPr>
              <a:t>Nachweise gegenüber Lieferanten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89322" y="1028700"/>
            <a:ext cx="1478756" cy="1820008"/>
            <a:chOff x="0" y="0"/>
            <a:chExt cx="6604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EADBC8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660400" cy="733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flipH="1">
            <a:off x="13019163" y="5669583"/>
            <a:ext cx="5268837" cy="4617417"/>
          </a:xfrm>
          <a:custGeom>
            <a:avLst/>
            <a:gdLst/>
            <a:ahLst/>
            <a:cxnLst/>
            <a:rect l="l" t="t" r="r" b="b"/>
            <a:pathLst>
              <a:path w="5268837" h="4617417">
                <a:moveTo>
                  <a:pt x="5268837" y="0"/>
                </a:moveTo>
                <a:lnTo>
                  <a:pt x="0" y="0"/>
                </a:lnTo>
                <a:lnTo>
                  <a:pt x="0" y="4617417"/>
                </a:lnTo>
                <a:lnTo>
                  <a:pt x="5268837" y="4617417"/>
                </a:lnTo>
                <a:lnTo>
                  <a:pt x="526883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TextBox 10"/>
          <p:cNvSpPr txBox="1"/>
          <p:nvPr/>
        </p:nvSpPr>
        <p:spPr>
          <a:xfrm>
            <a:off x="2306605" y="1045062"/>
            <a:ext cx="7003030" cy="863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FFFFFF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Archivierung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86054" y="1028700"/>
            <a:ext cx="1085292" cy="1645599"/>
            <a:chOff x="0" y="0"/>
            <a:chExt cx="660400" cy="100134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60400" cy="1001347"/>
            </a:xfrm>
            <a:custGeom>
              <a:avLst/>
              <a:gdLst/>
              <a:ahLst/>
              <a:cxnLst/>
              <a:rect l="l" t="t" r="r" b="b"/>
              <a:pathLst>
                <a:path w="660400" h="1001347">
                  <a:moveTo>
                    <a:pt x="220252" y="982278"/>
                  </a:moveTo>
                  <a:cubicBezTo>
                    <a:pt x="254109" y="993792"/>
                    <a:pt x="292600" y="1001347"/>
                    <a:pt x="330378" y="1001347"/>
                  </a:cubicBezTo>
                  <a:cubicBezTo>
                    <a:pt x="368157" y="1001347"/>
                    <a:pt x="404509" y="994870"/>
                    <a:pt x="438009" y="983356"/>
                  </a:cubicBezTo>
                  <a:cubicBezTo>
                    <a:pt x="438723" y="982997"/>
                    <a:pt x="439435" y="982997"/>
                    <a:pt x="440148" y="982637"/>
                  </a:cubicBezTo>
                  <a:cubicBezTo>
                    <a:pt x="565955" y="936582"/>
                    <a:pt x="658618" y="814968"/>
                    <a:pt x="660400" y="668657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668161"/>
                  </a:lnTo>
                  <a:cubicBezTo>
                    <a:pt x="1782" y="815687"/>
                    <a:pt x="93019" y="937302"/>
                    <a:pt x="220252" y="982278"/>
                  </a:cubicBezTo>
                  <a:close/>
                </a:path>
              </a:pathLst>
            </a:custGeom>
            <a:solidFill>
              <a:srgbClr val="F8F0E5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660400" cy="9219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3778345" y="-2504066"/>
            <a:ext cx="8142573" cy="15699263"/>
            <a:chOff x="0" y="0"/>
            <a:chExt cx="526348" cy="10148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6348" cy="1014824"/>
            </a:xfrm>
            <a:custGeom>
              <a:avLst/>
              <a:gdLst/>
              <a:ahLst/>
              <a:cxnLst/>
              <a:rect l="l" t="t" r="r" b="b"/>
              <a:pathLst>
                <a:path w="526348" h="1014824">
                  <a:moveTo>
                    <a:pt x="175544" y="995754"/>
                  </a:moveTo>
                  <a:cubicBezTo>
                    <a:pt x="202529" y="1007268"/>
                    <a:pt x="233207" y="1014824"/>
                    <a:pt x="263316" y="1014824"/>
                  </a:cubicBezTo>
                  <a:cubicBezTo>
                    <a:pt x="293426" y="1014824"/>
                    <a:pt x="322399" y="1008346"/>
                    <a:pt x="349099" y="996833"/>
                  </a:cubicBezTo>
                  <a:cubicBezTo>
                    <a:pt x="349668" y="996473"/>
                    <a:pt x="350236" y="996473"/>
                    <a:pt x="350804" y="996114"/>
                  </a:cubicBezTo>
                  <a:cubicBezTo>
                    <a:pt x="451074" y="950059"/>
                    <a:pt x="524928" y="828445"/>
                    <a:pt x="526348" y="681834"/>
                  </a:cubicBezTo>
                  <a:lnTo>
                    <a:pt x="526348" y="0"/>
                  </a:lnTo>
                  <a:lnTo>
                    <a:pt x="0" y="0"/>
                  </a:lnTo>
                  <a:lnTo>
                    <a:pt x="0" y="681328"/>
                  </a:lnTo>
                  <a:cubicBezTo>
                    <a:pt x="1420" y="829163"/>
                    <a:pt x="74138" y="950779"/>
                    <a:pt x="175544" y="995754"/>
                  </a:cubicBezTo>
                  <a:close/>
                </a:path>
              </a:pathLst>
            </a:custGeom>
            <a:solidFill>
              <a:srgbClr val="EADBC8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26348" cy="9354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3675781" y="-2008902"/>
            <a:ext cx="7921541" cy="15273102"/>
            <a:chOff x="0" y="0"/>
            <a:chExt cx="526348" cy="10148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6348" cy="1014824"/>
            </a:xfrm>
            <a:custGeom>
              <a:avLst/>
              <a:gdLst/>
              <a:ahLst/>
              <a:cxnLst/>
              <a:rect l="l" t="t" r="r" b="b"/>
              <a:pathLst>
                <a:path w="526348" h="1014824">
                  <a:moveTo>
                    <a:pt x="175544" y="995754"/>
                  </a:moveTo>
                  <a:cubicBezTo>
                    <a:pt x="202529" y="1007268"/>
                    <a:pt x="233207" y="1014824"/>
                    <a:pt x="263316" y="1014824"/>
                  </a:cubicBezTo>
                  <a:cubicBezTo>
                    <a:pt x="293426" y="1014824"/>
                    <a:pt x="322399" y="1008346"/>
                    <a:pt x="349099" y="996833"/>
                  </a:cubicBezTo>
                  <a:cubicBezTo>
                    <a:pt x="349668" y="996473"/>
                    <a:pt x="350236" y="996473"/>
                    <a:pt x="350804" y="996114"/>
                  </a:cubicBezTo>
                  <a:cubicBezTo>
                    <a:pt x="451074" y="950059"/>
                    <a:pt x="524928" y="828445"/>
                    <a:pt x="526348" y="681834"/>
                  </a:cubicBezTo>
                  <a:lnTo>
                    <a:pt x="526348" y="0"/>
                  </a:lnTo>
                  <a:lnTo>
                    <a:pt x="0" y="0"/>
                  </a:lnTo>
                  <a:lnTo>
                    <a:pt x="0" y="681328"/>
                  </a:lnTo>
                  <a:cubicBezTo>
                    <a:pt x="1420" y="829163"/>
                    <a:pt x="74138" y="950779"/>
                    <a:pt x="175544" y="995754"/>
                  </a:cubicBezTo>
                  <a:close/>
                </a:path>
              </a:pathLst>
            </a:custGeom>
            <a:solidFill>
              <a:srgbClr val="DAC0A3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26348" cy="9354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2522800"/>
            <a:ext cx="14990156" cy="5590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095"/>
              </a:lnSpc>
            </a:pPr>
            <a:r>
              <a:rPr lang="en-US" sz="32925" b="1">
                <a:solidFill>
                  <a:srgbClr val="FFFFFF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Q &amp; 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95057" y="3487655"/>
            <a:ext cx="15097885" cy="2978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81"/>
              </a:lnSpc>
            </a:pPr>
            <a:r>
              <a:rPr lang="en-US" sz="17415" b="1">
                <a:solidFill>
                  <a:srgbClr val="C9AD8D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 rot="-5400000">
            <a:off x="5230407" y="7671797"/>
            <a:ext cx="2615203" cy="2615203"/>
          </a:xfrm>
          <a:custGeom>
            <a:avLst/>
            <a:gdLst/>
            <a:ahLst/>
            <a:cxnLst/>
            <a:rect l="l" t="t" r="r" b="b"/>
            <a:pathLst>
              <a:path w="2615203" h="2615203">
                <a:moveTo>
                  <a:pt x="0" y="0"/>
                </a:moveTo>
                <a:lnTo>
                  <a:pt x="2615203" y="0"/>
                </a:lnTo>
                <a:lnTo>
                  <a:pt x="2615203" y="2615203"/>
                </a:lnTo>
                <a:lnTo>
                  <a:pt x="0" y="2615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/>
          <p:cNvSpPr/>
          <p:nvPr/>
        </p:nvSpPr>
        <p:spPr>
          <a:xfrm rot="-5400000">
            <a:off x="2615203" y="7671797"/>
            <a:ext cx="2615203" cy="2615203"/>
          </a:xfrm>
          <a:custGeom>
            <a:avLst/>
            <a:gdLst/>
            <a:ahLst/>
            <a:cxnLst/>
            <a:rect l="l" t="t" r="r" b="b"/>
            <a:pathLst>
              <a:path w="2615203" h="2615203">
                <a:moveTo>
                  <a:pt x="0" y="0"/>
                </a:moveTo>
                <a:lnTo>
                  <a:pt x="2615204" y="0"/>
                </a:lnTo>
                <a:lnTo>
                  <a:pt x="2615204" y="2615203"/>
                </a:lnTo>
                <a:lnTo>
                  <a:pt x="0" y="2615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Freeform 5"/>
          <p:cNvSpPr/>
          <p:nvPr/>
        </p:nvSpPr>
        <p:spPr>
          <a:xfrm rot="-5400000">
            <a:off x="0" y="7671797"/>
            <a:ext cx="2615203" cy="2615203"/>
          </a:xfrm>
          <a:custGeom>
            <a:avLst/>
            <a:gdLst/>
            <a:ahLst/>
            <a:cxnLst/>
            <a:rect l="l" t="t" r="r" b="b"/>
            <a:pathLst>
              <a:path w="2615203" h="2615203">
                <a:moveTo>
                  <a:pt x="0" y="0"/>
                </a:moveTo>
                <a:lnTo>
                  <a:pt x="2615203" y="0"/>
                </a:lnTo>
                <a:lnTo>
                  <a:pt x="2615203" y="2615203"/>
                </a:lnTo>
                <a:lnTo>
                  <a:pt x="0" y="2615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Freeform 6"/>
          <p:cNvSpPr/>
          <p:nvPr/>
        </p:nvSpPr>
        <p:spPr>
          <a:xfrm rot="-5400000">
            <a:off x="15672797" y="0"/>
            <a:ext cx="2615203" cy="2615203"/>
          </a:xfrm>
          <a:custGeom>
            <a:avLst/>
            <a:gdLst/>
            <a:ahLst/>
            <a:cxnLst/>
            <a:rect l="l" t="t" r="r" b="b"/>
            <a:pathLst>
              <a:path w="2615203" h="2615203">
                <a:moveTo>
                  <a:pt x="0" y="0"/>
                </a:moveTo>
                <a:lnTo>
                  <a:pt x="2615203" y="0"/>
                </a:lnTo>
                <a:lnTo>
                  <a:pt x="2615203" y="2615203"/>
                </a:lnTo>
                <a:lnTo>
                  <a:pt x="0" y="2615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Freeform 7"/>
          <p:cNvSpPr/>
          <p:nvPr/>
        </p:nvSpPr>
        <p:spPr>
          <a:xfrm rot="-5400000">
            <a:off x="13096660" y="0"/>
            <a:ext cx="2615203" cy="2615203"/>
          </a:xfrm>
          <a:custGeom>
            <a:avLst/>
            <a:gdLst/>
            <a:ahLst/>
            <a:cxnLst/>
            <a:rect l="l" t="t" r="r" b="b"/>
            <a:pathLst>
              <a:path w="2615203" h="2615203">
                <a:moveTo>
                  <a:pt x="0" y="0"/>
                </a:moveTo>
                <a:lnTo>
                  <a:pt x="2615203" y="0"/>
                </a:lnTo>
                <a:lnTo>
                  <a:pt x="2615203" y="2615203"/>
                </a:lnTo>
                <a:lnTo>
                  <a:pt x="0" y="2615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8"/>
          <p:cNvSpPr/>
          <p:nvPr/>
        </p:nvSpPr>
        <p:spPr>
          <a:xfrm rot="-5400000">
            <a:off x="10442390" y="0"/>
            <a:ext cx="2615203" cy="2615203"/>
          </a:xfrm>
          <a:custGeom>
            <a:avLst/>
            <a:gdLst/>
            <a:ahLst/>
            <a:cxnLst/>
            <a:rect l="l" t="t" r="r" b="b"/>
            <a:pathLst>
              <a:path w="2615203" h="2615203">
                <a:moveTo>
                  <a:pt x="0" y="0"/>
                </a:moveTo>
                <a:lnTo>
                  <a:pt x="2615203" y="0"/>
                </a:lnTo>
                <a:lnTo>
                  <a:pt x="2615203" y="2615203"/>
                </a:lnTo>
                <a:lnTo>
                  <a:pt x="0" y="2615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503</Words>
  <Application>Microsoft Office PowerPoint</Application>
  <PresentationFormat>Benutzerdefiniert</PresentationFormat>
  <Paragraphs>75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8" baseType="lpstr">
      <vt:lpstr>Handy Casual</vt:lpstr>
      <vt:lpstr>Questrial</vt:lpstr>
      <vt:lpstr>Anantason SemiExpanded Bold</vt:lpstr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Thema: Wie wir bei Heiß &amp; Laut mit Eingangsrechnungen umgehen Ziel: Jede Rechnung wird richtig bearbeitet – keine Zahlung geht verloren, keine doppelt raus. Jede Person weiß, was in ihrem Schritt wichtig ist. Wir bleiben GoBD-konform und revisionssicher.</dc:title>
  <dc:creator>Nicole Uhde</dc:creator>
  <cp:lastModifiedBy>Nicole Uhde</cp:lastModifiedBy>
  <cp:revision>1</cp:revision>
  <dcterms:created xsi:type="dcterms:W3CDTF">2006-08-16T00:00:00Z</dcterms:created>
  <dcterms:modified xsi:type="dcterms:W3CDTF">2025-10-11T09:16:35Z</dcterms:modified>
  <dc:identifier>DAG1eDVB2og</dc:identifier>
</cp:coreProperties>
</file>